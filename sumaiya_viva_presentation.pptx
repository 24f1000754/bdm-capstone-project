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MT Pro Bold" charset="1" panose="020B0802020202020204"/>
      <p:regular r:id="rId17"/>
    </p:embeddedFont>
    <p:embeddedFont>
      <p:font typeface="Arial MT Pro" charset="1" panose="020B0502020202020204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Antonio Bold" charset="1" panose="02000803000000000000"/>
      <p:regular r:id="rId21"/>
    </p:embeddedFont>
    <p:embeddedFont>
      <p:font typeface="Canva Sans Italics" charset="1" panose="020B0503030501040103"/>
      <p:regular r:id="rId22"/>
    </p:embeddedFont>
    <p:embeddedFont>
      <p:font typeface="Arial MT Pro Italics" charset="1" panose="020B0502020202090204"/>
      <p:regular r:id="rId23"/>
    </p:embeddedFont>
    <p:embeddedFont>
      <p:font typeface="Shrikhand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Y69Wo-xD7B2au8t0z0dOupj0xTaXiy_C/edit?usp=sharing&amp;ouid=102566158077373487380&amp;rtpof=true&amp;sd=true" TargetMode="External" Type="http://schemas.openxmlformats.org/officeDocument/2006/relationships/hyperlink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33.pn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33.pn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33.pn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33.pn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33.pn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6989" y="1271216"/>
            <a:ext cx="5855094" cy="7744568"/>
          </a:xfrm>
          <a:custGeom>
            <a:avLst/>
            <a:gdLst/>
            <a:ahLst/>
            <a:cxnLst/>
            <a:rect r="r" b="b" t="t" l="l"/>
            <a:pathLst>
              <a:path h="7744568" w="5855094">
                <a:moveTo>
                  <a:pt x="0" y="0"/>
                </a:moveTo>
                <a:lnTo>
                  <a:pt x="5855094" y="0"/>
                </a:lnTo>
                <a:lnTo>
                  <a:pt x="5855094" y="7744568"/>
                </a:lnTo>
                <a:lnTo>
                  <a:pt x="0" y="7744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2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79854" y="1271216"/>
            <a:ext cx="5855094" cy="7744568"/>
          </a:xfrm>
          <a:custGeom>
            <a:avLst/>
            <a:gdLst/>
            <a:ahLst/>
            <a:cxnLst/>
            <a:rect r="r" b="b" t="t" l="l"/>
            <a:pathLst>
              <a:path h="7744568" w="5855094">
                <a:moveTo>
                  <a:pt x="0" y="0"/>
                </a:moveTo>
                <a:lnTo>
                  <a:pt x="5855094" y="0"/>
                </a:lnTo>
                <a:lnTo>
                  <a:pt x="5855094" y="7744568"/>
                </a:lnTo>
                <a:lnTo>
                  <a:pt x="0" y="7744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" r="0" b="-3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8651" y="8401155"/>
            <a:ext cx="7219719" cy="1557209"/>
          </a:xfrm>
          <a:custGeom>
            <a:avLst/>
            <a:gdLst/>
            <a:ahLst/>
            <a:cxnLst/>
            <a:rect r="r" b="b" t="t" l="l"/>
            <a:pathLst>
              <a:path h="1557209" w="7219719">
                <a:moveTo>
                  <a:pt x="0" y="0"/>
                </a:moveTo>
                <a:lnTo>
                  <a:pt x="7219719" y="0"/>
                </a:lnTo>
                <a:lnTo>
                  <a:pt x="7219719" y="1557209"/>
                </a:lnTo>
                <a:lnTo>
                  <a:pt x="0" y="1557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1" r="0" b="-5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53850" y="4148347"/>
            <a:ext cx="4386243" cy="1881807"/>
          </a:xfrm>
          <a:custGeom>
            <a:avLst/>
            <a:gdLst/>
            <a:ahLst/>
            <a:cxnLst/>
            <a:rect r="r" b="b" t="t" l="l"/>
            <a:pathLst>
              <a:path h="1881807" w="4386243">
                <a:moveTo>
                  <a:pt x="0" y="0"/>
                </a:moveTo>
                <a:lnTo>
                  <a:pt x="4386244" y="0"/>
                </a:lnTo>
                <a:lnTo>
                  <a:pt x="4386244" y="1881807"/>
                </a:lnTo>
                <a:lnTo>
                  <a:pt x="0" y="1881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5" r="0" b="-5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10964" y="9078768"/>
            <a:ext cx="359064" cy="359064"/>
          </a:xfrm>
          <a:custGeom>
            <a:avLst/>
            <a:gdLst/>
            <a:ahLst/>
            <a:cxnLst/>
            <a:rect r="r" b="b" t="t" l="l"/>
            <a:pathLst>
              <a:path h="359064" w="359064">
                <a:moveTo>
                  <a:pt x="0" y="0"/>
                </a:moveTo>
                <a:lnTo>
                  <a:pt x="359064" y="0"/>
                </a:lnTo>
                <a:lnTo>
                  <a:pt x="359064" y="359064"/>
                </a:lnTo>
                <a:lnTo>
                  <a:pt x="0" y="3590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57087" y="5417991"/>
            <a:ext cx="315468" cy="315468"/>
          </a:xfrm>
          <a:custGeom>
            <a:avLst/>
            <a:gdLst/>
            <a:ahLst/>
            <a:cxnLst/>
            <a:rect r="r" b="b" t="t" l="l"/>
            <a:pathLst>
              <a:path h="315468" w="315468">
                <a:moveTo>
                  <a:pt x="0" y="315468"/>
                </a:moveTo>
                <a:lnTo>
                  <a:pt x="315468" y="315468"/>
                </a:lnTo>
                <a:lnTo>
                  <a:pt x="315468" y="0"/>
                </a:lnTo>
                <a:lnTo>
                  <a:pt x="0" y="0"/>
                </a:lnTo>
                <a:lnTo>
                  <a:pt x="0" y="315468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027545" y="3633978"/>
            <a:ext cx="3260503" cy="3260503"/>
            <a:chOff x="0" y="0"/>
            <a:chExt cx="4347337" cy="43473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47337" cy="4347337"/>
            </a:xfrm>
            <a:custGeom>
              <a:avLst/>
              <a:gdLst/>
              <a:ahLst/>
              <a:cxnLst/>
              <a:rect r="r" b="b" t="t" l="l"/>
              <a:pathLst>
                <a:path h="4347337" w="4347337">
                  <a:moveTo>
                    <a:pt x="0" y="0"/>
                  </a:moveTo>
                  <a:lnTo>
                    <a:pt x="4347337" y="0"/>
                  </a:lnTo>
                  <a:lnTo>
                    <a:pt x="4347337" y="4347337"/>
                  </a:lnTo>
                  <a:lnTo>
                    <a:pt x="0" y="434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259300" y="9416648"/>
            <a:ext cx="536298" cy="541715"/>
          </a:xfrm>
          <a:custGeom>
            <a:avLst/>
            <a:gdLst/>
            <a:ahLst/>
            <a:cxnLst/>
            <a:rect r="r" b="b" t="t" l="l"/>
            <a:pathLst>
              <a:path h="541715" w="536298">
                <a:moveTo>
                  <a:pt x="0" y="0"/>
                </a:moveTo>
                <a:lnTo>
                  <a:pt x="536298" y="0"/>
                </a:lnTo>
                <a:lnTo>
                  <a:pt x="536298" y="541716"/>
                </a:lnTo>
                <a:lnTo>
                  <a:pt x="0" y="541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3683" y="5822537"/>
            <a:ext cx="6428289" cy="10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b="true" sz="3078" spc="-149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 presentation slide for BDM Capstone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2113817"/>
            <a:ext cx="7025164" cy="357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4"/>
              </a:lnSpc>
            </a:pPr>
            <a:r>
              <a:rPr lang="en-US" b="true" sz="4479" spc="-218">
                <a:solidFill>
                  <a:srgbClr val="9FC0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Sales Performance and Product Demand Analysis for Improved Inventory Planning in a Retail Garments Store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77192" y="8661564"/>
            <a:ext cx="4714780" cy="111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75" b="true">
                <a:solidFill>
                  <a:srgbClr val="EFEFE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IITM Online BS Degree Program, Indian Institute of Technology, Madras, Chennai Tamil Nadu, India, 600036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21388" y="4636018"/>
            <a:ext cx="3851167" cy="137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7" b="true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Name: Sumaiya Afroz </a:t>
            </a:r>
          </a:p>
          <a:p>
            <a:pPr algn="l">
              <a:lnSpc>
                <a:spcPts val="3045"/>
              </a:lnSpc>
            </a:pPr>
            <a:r>
              <a:rPr lang="en-US" sz="2177" b="true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Roll number: 24f1000754</a:t>
            </a:r>
          </a:p>
          <a:p>
            <a:pPr algn="l">
              <a:lnSpc>
                <a:spcPts val="304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821388" y="4312872"/>
            <a:ext cx="3851167" cy="51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8"/>
              </a:lnSpc>
            </a:pPr>
            <a:r>
              <a:rPr lang="en-US" sz="2277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377592" y="9258300"/>
            <a:ext cx="351015" cy="351015"/>
          </a:xfrm>
          <a:custGeom>
            <a:avLst/>
            <a:gdLst/>
            <a:ahLst/>
            <a:cxnLst/>
            <a:rect r="r" b="b" t="t" l="l"/>
            <a:pathLst>
              <a:path h="351015" w="351015">
                <a:moveTo>
                  <a:pt x="0" y="351015"/>
                </a:moveTo>
                <a:lnTo>
                  <a:pt x="351016" y="351015"/>
                </a:lnTo>
                <a:lnTo>
                  <a:pt x="351016" y="0"/>
                </a:lnTo>
                <a:lnTo>
                  <a:pt x="0" y="0"/>
                </a:lnTo>
                <a:lnTo>
                  <a:pt x="0" y="3510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18864" y="-5143500"/>
            <a:ext cx="11011700" cy="10287000"/>
          </a:xfrm>
          <a:custGeom>
            <a:avLst/>
            <a:gdLst/>
            <a:ahLst/>
            <a:cxnLst/>
            <a:rect r="r" b="b" t="t" l="l"/>
            <a:pathLst>
              <a:path h="10287000" w="11011700">
                <a:moveTo>
                  <a:pt x="0" y="0"/>
                </a:moveTo>
                <a:lnTo>
                  <a:pt x="11011700" y="0"/>
                </a:lnTo>
                <a:lnTo>
                  <a:pt x="11011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9" t="0" r="-3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49020" y="3863897"/>
            <a:ext cx="4864870" cy="551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834" indent="-213417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Matching Point — </a:t>
            </a: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B2C retail garment and matching-accessories store</a:t>
            </a:r>
          </a:p>
          <a:p>
            <a:pPr algn="l" marL="426834" indent="-213417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Located at Powerhouse Road, Maripur, Muzaffarpur, Bihar</a:t>
            </a:r>
          </a:p>
          <a:p>
            <a:pPr algn="l" marL="426834" indent="-213417" lvl="1">
              <a:lnSpc>
                <a:spcPts val="2765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Owned by Md. Tarique Anwar</a:t>
            </a:r>
          </a:p>
          <a:p>
            <a:pPr algn="l" marL="426834" indent="-213417" lvl="1">
              <a:lnSpc>
                <a:spcPts val="2765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Established in 2014, operating</a:t>
            </a: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for 10+ years</a:t>
            </a:r>
          </a:p>
          <a:p>
            <a:pPr algn="l" marL="426834" indent="-213417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Sells sarees, suit pieces, dupattas, blouse materials, lungi, undergarments and other matching accessories</a:t>
            </a:r>
          </a:p>
          <a:p>
            <a:pPr algn="l" marL="426834" indent="-213417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Serves local walk-in (B2C) customers</a:t>
            </a:r>
          </a:p>
          <a:p>
            <a:pPr algn="l" marL="426834" indent="-213417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Currently maintains</a:t>
            </a: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all sales and inventory records manually through registers and bill books — no digital tracking system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49020" y="2167935"/>
            <a:ext cx="4956874" cy="8119065"/>
          </a:xfrm>
          <a:custGeom>
            <a:avLst/>
            <a:gdLst/>
            <a:ahLst/>
            <a:cxnLst/>
            <a:rect r="r" b="b" t="t" l="l"/>
            <a:pathLst>
              <a:path h="8119065" w="4956874">
                <a:moveTo>
                  <a:pt x="0" y="0"/>
                </a:moveTo>
                <a:lnTo>
                  <a:pt x="4956874" y="0"/>
                </a:lnTo>
                <a:lnTo>
                  <a:pt x="4956874" y="8119065"/>
                </a:lnTo>
                <a:lnTo>
                  <a:pt x="0" y="8119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481311" y="7507014"/>
            <a:ext cx="351015" cy="351015"/>
          </a:xfrm>
          <a:custGeom>
            <a:avLst/>
            <a:gdLst/>
            <a:ahLst/>
            <a:cxnLst/>
            <a:rect r="r" b="b" t="t" l="l"/>
            <a:pathLst>
              <a:path h="351015" w="351015">
                <a:moveTo>
                  <a:pt x="0" y="351016"/>
                </a:moveTo>
                <a:lnTo>
                  <a:pt x="351015" y="351016"/>
                </a:lnTo>
                <a:lnTo>
                  <a:pt x="351015" y="0"/>
                </a:lnTo>
                <a:lnTo>
                  <a:pt x="0" y="0"/>
                </a:lnTo>
                <a:lnTo>
                  <a:pt x="0" y="351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22122" y="3203243"/>
            <a:ext cx="3310204" cy="463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01 — Reducing Locked Working Capital</a:t>
            </a:r>
          </a:p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Slow-moving inventory → Capital remains tied up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Lack of structured product-wise inventory analysis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Slow-moving stock remains on shelves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Working capital gets locked in inventory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139755" y="2734208"/>
            <a:ext cx="4074938" cy="5650344"/>
          </a:xfrm>
          <a:custGeom>
            <a:avLst/>
            <a:gdLst/>
            <a:ahLst/>
            <a:cxnLst/>
            <a:rect r="r" b="b" t="t" l="l"/>
            <a:pathLst>
              <a:path h="5650344" w="4074938">
                <a:moveTo>
                  <a:pt x="0" y="0"/>
                </a:moveTo>
                <a:lnTo>
                  <a:pt x="4074938" y="0"/>
                </a:lnTo>
                <a:lnTo>
                  <a:pt x="4074938" y="5650345"/>
                </a:lnTo>
                <a:lnTo>
                  <a:pt x="0" y="5650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4" r="0" b="-4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6736735" y="7682522"/>
            <a:ext cx="351015" cy="351015"/>
          </a:xfrm>
          <a:custGeom>
            <a:avLst/>
            <a:gdLst/>
            <a:ahLst/>
            <a:cxnLst/>
            <a:rect r="r" b="b" t="t" l="l"/>
            <a:pathLst>
              <a:path h="351015" w="351015">
                <a:moveTo>
                  <a:pt x="0" y="351015"/>
                </a:moveTo>
                <a:lnTo>
                  <a:pt x="351015" y="351015"/>
                </a:lnTo>
                <a:lnTo>
                  <a:pt x="351015" y="0"/>
                </a:lnTo>
                <a:lnTo>
                  <a:pt x="0" y="0"/>
                </a:lnTo>
                <a:lnTo>
                  <a:pt x="0" y="3510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60179" y="-84039"/>
            <a:ext cx="11744373" cy="10971457"/>
          </a:xfrm>
          <a:custGeom>
            <a:avLst/>
            <a:gdLst/>
            <a:ahLst/>
            <a:cxnLst/>
            <a:rect r="r" b="b" t="t" l="l"/>
            <a:pathLst>
              <a:path h="10971457" w="11744373">
                <a:moveTo>
                  <a:pt x="0" y="0"/>
                </a:moveTo>
                <a:lnTo>
                  <a:pt x="11744373" y="0"/>
                </a:lnTo>
                <a:lnTo>
                  <a:pt x="11744373" y="10971457"/>
                </a:lnTo>
                <a:lnTo>
                  <a:pt x="0" y="10971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4" t="0" r="-3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902458" y="3168462"/>
            <a:ext cx="3145107" cy="532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02 — Minimising Total Inventory Cost</a:t>
            </a:r>
          </a:p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Demand uncertainty → Overstock + Stockout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Procurement relies heavily on intuition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Low-demand products may be overstocked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High-demand products may face stockouts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Results in higher holding costs / lost sales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519618" y="2734208"/>
            <a:ext cx="4074938" cy="5614711"/>
          </a:xfrm>
          <a:custGeom>
            <a:avLst/>
            <a:gdLst/>
            <a:ahLst/>
            <a:cxnLst/>
            <a:rect r="r" b="b" t="t" l="l"/>
            <a:pathLst>
              <a:path h="5614711" w="4074938">
                <a:moveTo>
                  <a:pt x="0" y="0"/>
                </a:moveTo>
                <a:lnTo>
                  <a:pt x="4074938" y="0"/>
                </a:lnTo>
                <a:lnTo>
                  <a:pt x="4074938" y="5614712"/>
                </a:lnTo>
                <a:lnTo>
                  <a:pt x="0" y="5614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3" r="0" b="-2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9291895"/>
            <a:ext cx="546991" cy="555321"/>
          </a:xfrm>
          <a:custGeom>
            <a:avLst/>
            <a:gdLst/>
            <a:ahLst/>
            <a:cxnLst/>
            <a:rect r="r" b="b" t="t" l="l"/>
            <a:pathLst>
              <a:path h="555321" w="546991">
                <a:moveTo>
                  <a:pt x="0" y="0"/>
                </a:moveTo>
                <a:lnTo>
                  <a:pt x="546991" y="0"/>
                </a:lnTo>
                <a:lnTo>
                  <a:pt x="546991" y="555320"/>
                </a:lnTo>
                <a:lnTo>
                  <a:pt x="0" y="555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54286" y="1078068"/>
            <a:ext cx="9948643" cy="71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b="true" sz="4379" spc="-214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Organization Background &amp;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66893" y="877338"/>
            <a:ext cx="9313964" cy="91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7"/>
              </a:lnSpc>
            </a:pPr>
            <a:r>
              <a:rPr lang="en-US" b="true" sz="4379" spc="-214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Business Problems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8060" y="3193718"/>
            <a:ext cx="4864870" cy="42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8"/>
              </a:lnSpc>
              <a:spcBef>
                <a:spcPct val="0"/>
              </a:spcBef>
            </a:pPr>
            <a:r>
              <a:rPr lang="en-US" b="true" sz="2277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Organization Details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30637" y="-12697"/>
            <a:ext cx="11011700" cy="10287000"/>
          </a:xfrm>
          <a:custGeom>
            <a:avLst/>
            <a:gdLst/>
            <a:ahLst/>
            <a:cxnLst/>
            <a:rect r="r" b="b" t="t" l="l"/>
            <a:pathLst>
              <a:path h="10287000" w="11011700">
                <a:moveTo>
                  <a:pt x="0" y="0"/>
                </a:moveTo>
                <a:lnTo>
                  <a:pt x="11011700" y="0"/>
                </a:lnTo>
                <a:lnTo>
                  <a:pt x="11011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9" t="0" r="-39" b="0"/>
            </a:stretch>
          </a:blipFill>
        </p:spPr>
      </p:sp>
      <p:sp>
        <p:nvSpPr>
          <p:cNvPr name="AutoShape 3" id="3"/>
          <p:cNvSpPr/>
          <p:nvPr/>
        </p:nvSpPr>
        <p:spPr>
          <a:xfrm rot="6660">
            <a:off x="12667821" y="4848311"/>
            <a:ext cx="4929997" cy="0"/>
          </a:xfrm>
          <a:prstGeom prst="line">
            <a:avLst/>
          </a:prstGeom>
          <a:ln cap="rnd" w="9525">
            <a:solidFill>
              <a:srgbClr val="1322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58173" y="6819900"/>
            <a:ext cx="5176171" cy="2948940"/>
            <a:chOff x="0" y="0"/>
            <a:chExt cx="6901561" cy="393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01561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01561">
                  <a:moveTo>
                    <a:pt x="0" y="0"/>
                  </a:moveTo>
                  <a:lnTo>
                    <a:pt x="6901561" y="0"/>
                  </a:lnTo>
                  <a:lnTo>
                    <a:pt x="6901561" y="3931920"/>
                  </a:lnTo>
                  <a:lnTo>
                    <a:pt x="0" y="393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50" t="0" r="-145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572380" y="7103278"/>
            <a:ext cx="947738" cy="952500"/>
          </a:xfrm>
          <a:custGeom>
            <a:avLst/>
            <a:gdLst/>
            <a:ahLst/>
            <a:cxnLst/>
            <a:rect r="r" b="b" t="t" l="l"/>
            <a:pathLst>
              <a:path h="952500" w="947738">
                <a:moveTo>
                  <a:pt x="0" y="0"/>
                </a:moveTo>
                <a:lnTo>
                  <a:pt x="947737" y="0"/>
                </a:lnTo>
                <a:lnTo>
                  <a:pt x="947737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51" t="0" r="-25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10739495" y="1919183"/>
            <a:ext cx="8786632" cy="5988853"/>
            <a:chOff x="0" y="0"/>
            <a:chExt cx="11715509" cy="79851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15496" cy="7985125"/>
            </a:xfrm>
            <a:custGeom>
              <a:avLst/>
              <a:gdLst/>
              <a:ahLst/>
              <a:cxnLst/>
              <a:rect r="r" b="b" t="t" l="l"/>
              <a:pathLst>
                <a:path h="7985125" w="11715496">
                  <a:moveTo>
                    <a:pt x="0" y="0"/>
                  </a:moveTo>
                  <a:lnTo>
                    <a:pt x="11715496" y="0"/>
                  </a:lnTo>
                  <a:lnTo>
                    <a:pt x="11715496" y="7985125"/>
                  </a:lnTo>
                  <a:lnTo>
                    <a:pt x="0" y="7985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048" t="0" r="-3048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922941" y="9258300"/>
            <a:ext cx="665333" cy="675465"/>
          </a:xfrm>
          <a:custGeom>
            <a:avLst/>
            <a:gdLst/>
            <a:ahLst/>
            <a:cxnLst/>
            <a:rect r="r" b="b" t="t" l="l"/>
            <a:pathLst>
              <a:path h="675465" w="665333">
                <a:moveTo>
                  <a:pt x="0" y="0"/>
                </a:moveTo>
                <a:lnTo>
                  <a:pt x="665333" y="0"/>
                </a:lnTo>
                <a:lnTo>
                  <a:pt x="665333" y="675465"/>
                </a:lnTo>
                <a:lnTo>
                  <a:pt x="0" y="675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58173" y="1000125"/>
            <a:ext cx="4639104" cy="310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1"/>
              </a:lnSpc>
            </a:pPr>
            <a:r>
              <a:rPr lang="en-US" b="true" sz="5723" spc="-278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 Collection &amp; Analytical 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76018" y="2336025"/>
            <a:ext cx="3767928" cy="571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Jan–Apr 2026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699 valid sales transactions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56 SKU/product records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Sources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Sales registers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Customer bill books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Physical stock verification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Owner discussions</a:t>
            </a:r>
          </a:p>
          <a:p>
            <a:pPr algn="l" marL="539840" indent="-134960" lvl="3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Excel Workbook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Item Master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Daily Sales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Inventory Summary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Current Stock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677346" y="1220857"/>
            <a:ext cx="4910928" cy="360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1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Reducing Locked Working Capital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ABC Analysis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→ Revenue contribution &amp; inventory priority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Inventory Turnover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→ Identify slow / fast stock movement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⬇️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Identify where capital is tied up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397050" y="2307450"/>
            <a:ext cx="4910928" cy="59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Primary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7346" y="542925"/>
            <a:ext cx="4910928" cy="59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METHODS LINKED TO PROBLEMS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77346" y="5081607"/>
            <a:ext cx="3767928" cy="433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2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Minimising Total Inventory Cost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Descriptive Statistics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→ Understand sales pattern &amp; variability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7-Day Moving Average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→ Smooth recent demand fluctuations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⬇️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Support demand-based replenishment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58173" y="8103403"/>
            <a:ext cx="5176152" cy="106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TOOL: MICROSOFT EXCEL </a:t>
            </a:r>
          </a:p>
          <a:p>
            <a:pPr algn="ctr">
              <a:lnSpc>
                <a:spcPts val="2657"/>
              </a:lnSpc>
            </a:pPr>
            <a:r>
              <a:rPr lang="en-US" sz="1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Pivot Tables • Excel Formulas • Charts</a:t>
            </a:r>
          </a:p>
          <a:p>
            <a:pPr algn="ctr">
              <a:lnSpc>
                <a:spcPts val="265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590780" y="4399950"/>
            <a:ext cx="4910928" cy="59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 b="true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Variable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2260" y="4742155"/>
            <a:ext cx="4910928" cy="219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55" indent="-155439" lvl="3">
              <a:lnSpc>
                <a:spcPts val="3188"/>
              </a:lnSpc>
              <a:buFont typeface="Arial"/>
              <a:buChar char="￭"/>
            </a:pPr>
            <a:r>
              <a:rPr lang="en-US" b="true" sz="2277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Quantity Sold Selling Price </a:t>
            </a:r>
          </a:p>
          <a:p>
            <a:pPr algn="l" marL="621755" indent="-155439" lvl="3">
              <a:lnSpc>
                <a:spcPts val="3188"/>
              </a:lnSpc>
              <a:buFont typeface="Arial"/>
              <a:buChar char="￭"/>
            </a:pPr>
            <a:r>
              <a:rPr lang="en-US" b="true" sz="2277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Cost Price</a:t>
            </a:r>
          </a:p>
          <a:p>
            <a:pPr algn="l" marL="621755" indent="-155439" lvl="3">
              <a:lnSpc>
                <a:spcPts val="3188"/>
              </a:lnSpc>
              <a:buFont typeface="Arial"/>
              <a:buChar char="￭"/>
            </a:pPr>
            <a:r>
              <a:rPr lang="en-US" b="true" sz="2277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Opening Stock</a:t>
            </a:r>
          </a:p>
          <a:p>
            <a:pPr algn="l" marL="621755" indent="-155439" lvl="3">
              <a:lnSpc>
                <a:spcPts val="3188"/>
              </a:lnSpc>
              <a:buFont typeface="Arial"/>
              <a:buChar char="￭"/>
            </a:pPr>
            <a:r>
              <a:rPr lang="en-US" b="true" sz="2277">
                <a:solidFill>
                  <a:srgbClr val="FFFFF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Closing Stock</a:t>
            </a:r>
          </a:p>
          <a:p>
            <a:pPr algn="l" marL="621755" indent="-155439" lvl="3">
              <a:lnSpc>
                <a:spcPts val="318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58173" y="9055275"/>
            <a:ext cx="5176152" cy="39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9" u="sng">
                <a:solidFill>
                  <a:srgbClr val="0000FF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docs.google.com/spreadsheets/d/1Y69Wo-xD7B2au8t0z0dOupj0xTaXiy_C/edit?usp=sharing&amp;ouid=102566158077373487380&amp;rtpof=true&amp;sd=true"/>
              </a:rPr>
              <a:t>Click here for sheet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93041" y="1390288"/>
            <a:ext cx="23802975" cy="23802975"/>
          </a:xfrm>
          <a:custGeom>
            <a:avLst/>
            <a:gdLst/>
            <a:ahLst/>
            <a:cxnLst/>
            <a:rect r="r" b="b" t="t" l="l"/>
            <a:pathLst>
              <a:path h="23802975" w="23802975">
                <a:moveTo>
                  <a:pt x="0" y="0"/>
                </a:moveTo>
                <a:lnTo>
                  <a:pt x="23802975" y="0"/>
                </a:lnTo>
                <a:lnTo>
                  <a:pt x="23802975" y="23802975"/>
                </a:lnTo>
                <a:lnTo>
                  <a:pt x="0" y="23802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88521" y="3003328"/>
            <a:ext cx="4744888" cy="1848260"/>
          </a:xfrm>
          <a:custGeom>
            <a:avLst/>
            <a:gdLst/>
            <a:ahLst/>
            <a:cxnLst/>
            <a:rect r="r" b="b" t="t" l="l"/>
            <a:pathLst>
              <a:path h="1848260" w="4744888">
                <a:moveTo>
                  <a:pt x="0" y="0"/>
                </a:moveTo>
                <a:lnTo>
                  <a:pt x="4744888" y="0"/>
                </a:lnTo>
                <a:lnTo>
                  <a:pt x="4744888" y="1848259"/>
                </a:lnTo>
                <a:lnTo>
                  <a:pt x="0" y="1848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1" r="0" b="-16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104" y="4875209"/>
            <a:ext cx="4744888" cy="2266550"/>
          </a:xfrm>
          <a:custGeom>
            <a:avLst/>
            <a:gdLst/>
            <a:ahLst/>
            <a:cxnLst/>
            <a:rect r="r" b="b" t="t" l="l"/>
            <a:pathLst>
              <a:path h="2266550" w="4744888">
                <a:moveTo>
                  <a:pt x="0" y="0"/>
                </a:moveTo>
                <a:lnTo>
                  <a:pt x="4744889" y="0"/>
                </a:lnTo>
                <a:lnTo>
                  <a:pt x="4744889" y="2266550"/>
                </a:lnTo>
                <a:lnTo>
                  <a:pt x="0" y="2266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6" t="0" r="-7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6475038" y="4279887"/>
            <a:ext cx="351015" cy="351015"/>
          </a:xfrm>
          <a:custGeom>
            <a:avLst/>
            <a:gdLst/>
            <a:ahLst/>
            <a:cxnLst/>
            <a:rect r="r" b="b" t="t" l="l"/>
            <a:pathLst>
              <a:path h="351015" w="351015">
                <a:moveTo>
                  <a:pt x="0" y="351016"/>
                </a:moveTo>
                <a:lnTo>
                  <a:pt x="351015" y="351016"/>
                </a:lnTo>
                <a:lnTo>
                  <a:pt x="351015" y="0"/>
                </a:lnTo>
                <a:lnTo>
                  <a:pt x="0" y="0"/>
                </a:lnTo>
                <a:lnTo>
                  <a:pt x="0" y="35101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4928416" y="6624799"/>
            <a:ext cx="351015" cy="351015"/>
          </a:xfrm>
          <a:custGeom>
            <a:avLst/>
            <a:gdLst/>
            <a:ahLst/>
            <a:cxnLst/>
            <a:rect r="r" b="b" t="t" l="l"/>
            <a:pathLst>
              <a:path h="351015" w="351015">
                <a:moveTo>
                  <a:pt x="0" y="351016"/>
                </a:moveTo>
                <a:lnTo>
                  <a:pt x="351015" y="351016"/>
                </a:lnTo>
                <a:lnTo>
                  <a:pt x="351015" y="0"/>
                </a:lnTo>
                <a:lnTo>
                  <a:pt x="0" y="0"/>
                </a:lnTo>
                <a:lnTo>
                  <a:pt x="0" y="35101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3361" y="7378979"/>
            <a:ext cx="4744888" cy="2266550"/>
          </a:xfrm>
          <a:custGeom>
            <a:avLst/>
            <a:gdLst/>
            <a:ahLst/>
            <a:cxnLst/>
            <a:rect r="r" b="b" t="t" l="l"/>
            <a:pathLst>
              <a:path h="2266550" w="4744888">
                <a:moveTo>
                  <a:pt x="0" y="0"/>
                </a:moveTo>
                <a:lnTo>
                  <a:pt x="4744888" y="0"/>
                </a:lnTo>
                <a:lnTo>
                  <a:pt x="4744888" y="2266550"/>
                </a:lnTo>
                <a:lnTo>
                  <a:pt x="0" y="2266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6" t="0" r="-76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68439" y="3114494"/>
            <a:ext cx="8790908" cy="5435727"/>
            <a:chOff x="0" y="0"/>
            <a:chExt cx="11721211" cy="72476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21211" cy="7247636"/>
            </a:xfrm>
            <a:custGeom>
              <a:avLst/>
              <a:gdLst/>
              <a:ahLst/>
              <a:cxnLst/>
              <a:rect r="r" b="b" t="t" l="l"/>
              <a:pathLst>
                <a:path h="7247636" w="11721211">
                  <a:moveTo>
                    <a:pt x="0" y="0"/>
                  </a:moveTo>
                  <a:lnTo>
                    <a:pt x="11721211" y="0"/>
                  </a:lnTo>
                  <a:lnTo>
                    <a:pt x="11721211" y="7247636"/>
                  </a:lnTo>
                  <a:lnTo>
                    <a:pt x="0" y="7247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2931" y="7668987"/>
            <a:ext cx="4145747" cy="225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Highlight: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A-Class: Suit Piece | Saree | Dupatta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Bottom insight: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3 products contribute 67.56% of analysed revenue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5103914" y="9065809"/>
            <a:ext cx="351015" cy="351015"/>
          </a:xfrm>
          <a:custGeom>
            <a:avLst/>
            <a:gdLst/>
            <a:ahLst/>
            <a:cxnLst/>
            <a:rect r="r" b="b" t="t" l="l"/>
            <a:pathLst>
              <a:path h="351015" w="351015">
                <a:moveTo>
                  <a:pt x="0" y="351016"/>
                </a:moveTo>
                <a:lnTo>
                  <a:pt x="351015" y="351016"/>
                </a:lnTo>
                <a:lnTo>
                  <a:pt x="351015" y="0"/>
                </a:lnTo>
                <a:lnTo>
                  <a:pt x="0" y="0"/>
                </a:lnTo>
                <a:lnTo>
                  <a:pt x="0" y="35101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90389" y="8930545"/>
            <a:ext cx="576135" cy="597031"/>
          </a:xfrm>
          <a:custGeom>
            <a:avLst/>
            <a:gdLst/>
            <a:ahLst/>
            <a:cxnLst/>
            <a:rect r="r" b="b" t="t" l="l"/>
            <a:pathLst>
              <a:path h="597031" w="576135">
                <a:moveTo>
                  <a:pt x="0" y="0"/>
                </a:moveTo>
                <a:lnTo>
                  <a:pt x="576134" y="0"/>
                </a:lnTo>
                <a:lnTo>
                  <a:pt x="576134" y="597030"/>
                </a:lnTo>
                <a:lnTo>
                  <a:pt x="0" y="5970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06553" y="704659"/>
            <a:ext cx="13320712" cy="68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7"/>
              </a:lnSpc>
            </a:pPr>
            <a:r>
              <a:rPr lang="en-US" b="true" sz="4334" spc="-21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1: ABC Analysis — Revenue Contribution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9741" y="2326977"/>
            <a:ext cx="10848518" cy="53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8"/>
              </a:lnSpc>
            </a:pPr>
            <a:r>
              <a:rPr lang="en-US" b="true" sz="5781" spc="-283">
                <a:solidFill>
                  <a:srgbClr val="005B52"/>
                </a:solidFill>
                <a:latin typeface="Antonio Bold"/>
                <a:ea typeface="Antonio Bold"/>
                <a:cs typeface="Antonio Bold"/>
                <a:sym typeface="Antonio Bold"/>
              </a:rPr>
              <a:t>₹9,07,565 analysed revenue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29173" y="3238014"/>
            <a:ext cx="4053221" cy="121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Visual: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56 SKU records → 30 unique products → 24 products with sales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3675" y="5231702"/>
            <a:ext cx="4145747" cy="191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Then: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Class A — 3 products → 67.56%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Class B — 5 products → 22.30%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Class C — 16 products → 10.14%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103487" y="8854345"/>
            <a:ext cx="5590870" cy="118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18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Margin check: Class A products show ~29.19% avg margin vs 33.92% for Class C — revenue and profitability [align / partially align]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68439" y="8435873"/>
            <a:ext cx="8790861" cy="39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ABC Analysis — Revenue Contribution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8283" y="4993719"/>
            <a:ext cx="8589235" cy="7429681"/>
          </a:xfrm>
          <a:custGeom>
            <a:avLst/>
            <a:gdLst/>
            <a:ahLst/>
            <a:cxnLst/>
            <a:rect r="r" b="b" t="t" l="l"/>
            <a:pathLst>
              <a:path h="7429681" w="8589235">
                <a:moveTo>
                  <a:pt x="0" y="0"/>
                </a:moveTo>
                <a:lnTo>
                  <a:pt x="8589236" y="0"/>
                </a:lnTo>
                <a:lnTo>
                  <a:pt x="8589236" y="7429681"/>
                </a:lnTo>
                <a:lnTo>
                  <a:pt x="0" y="7429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" r="0" b="-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6414" y="2519886"/>
            <a:ext cx="4744888" cy="4532233"/>
          </a:xfrm>
          <a:custGeom>
            <a:avLst/>
            <a:gdLst/>
            <a:ahLst/>
            <a:cxnLst/>
            <a:rect r="r" b="b" t="t" l="l"/>
            <a:pathLst>
              <a:path h="4532233" w="4744888">
                <a:moveTo>
                  <a:pt x="0" y="0"/>
                </a:moveTo>
                <a:lnTo>
                  <a:pt x="4744889" y="0"/>
                </a:lnTo>
                <a:lnTo>
                  <a:pt x="4744889" y="4532234"/>
                </a:lnTo>
                <a:lnTo>
                  <a:pt x="0" y="4532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6" t="0" r="-6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07159" y="2519886"/>
            <a:ext cx="3353524" cy="3245644"/>
          </a:xfrm>
          <a:custGeom>
            <a:avLst/>
            <a:gdLst/>
            <a:ahLst/>
            <a:cxnLst/>
            <a:rect r="r" b="b" t="t" l="l"/>
            <a:pathLst>
              <a:path h="3245644" w="3353524">
                <a:moveTo>
                  <a:pt x="0" y="0"/>
                </a:moveTo>
                <a:lnTo>
                  <a:pt x="3353523" y="0"/>
                </a:lnTo>
                <a:lnTo>
                  <a:pt x="3353523" y="3245644"/>
                </a:lnTo>
                <a:lnTo>
                  <a:pt x="0" y="324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4" t="0" r="-9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44861" y="3024330"/>
            <a:ext cx="852183" cy="506663"/>
          </a:xfrm>
          <a:custGeom>
            <a:avLst/>
            <a:gdLst/>
            <a:ahLst/>
            <a:cxnLst/>
            <a:rect r="r" b="b" t="t" l="l"/>
            <a:pathLst>
              <a:path h="506663" w="852183">
                <a:moveTo>
                  <a:pt x="0" y="0"/>
                </a:moveTo>
                <a:lnTo>
                  <a:pt x="852183" y="0"/>
                </a:lnTo>
                <a:lnTo>
                  <a:pt x="852183" y="506664"/>
                </a:lnTo>
                <a:lnTo>
                  <a:pt x="0" y="506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58" r="0" b="-45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25224" y="3530994"/>
            <a:ext cx="8681371" cy="5367528"/>
            <a:chOff x="0" y="0"/>
            <a:chExt cx="11575161" cy="71567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75161" cy="7156704"/>
            </a:xfrm>
            <a:custGeom>
              <a:avLst/>
              <a:gdLst/>
              <a:ahLst/>
              <a:cxnLst/>
              <a:rect r="r" b="b" t="t" l="l"/>
              <a:pathLst>
                <a:path h="7156704" w="11575161">
                  <a:moveTo>
                    <a:pt x="0" y="0"/>
                  </a:moveTo>
                  <a:lnTo>
                    <a:pt x="11575161" y="0"/>
                  </a:lnTo>
                  <a:lnTo>
                    <a:pt x="11575161" y="7156704"/>
                  </a:lnTo>
                  <a:lnTo>
                    <a:pt x="0" y="7156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41303" y="2628452"/>
            <a:ext cx="3419380" cy="3137087"/>
            <a:chOff x="0" y="0"/>
            <a:chExt cx="4559173" cy="4182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59173" cy="4182745"/>
            </a:xfrm>
            <a:custGeom>
              <a:avLst/>
              <a:gdLst/>
              <a:ahLst/>
              <a:cxnLst/>
              <a:rect r="r" b="b" t="t" l="l"/>
              <a:pathLst>
                <a:path h="4182745" w="4559173">
                  <a:moveTo>
                    <a:pt x="0" y="0"/>
                  </a:moveTo>
                  <a:lnTo>
                    <a:pt x="4559173" y="0"/>
                  </a:lnTo>
                  <a:lnTo>
                    <a:pt x="4559173" y="4182745"/>
                  </a:lnTo>
                  <a:lnTo>
                    <a:pt x="0" y="418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1405" t="0" r="-21405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259300" y="9442737"/>
            <a:ext cx="716367" cy="750122"/>
          </a:xfrm>
          <a:custGeom>
            <a:avLst/>
            <a:gdLst/>
            <a:ahLst/>
            <a:cxnLst/>
            <a:rect r="r" b="b" t="t" l="l"/>
            <a:pathLst>
              <a:path h="750122" w="716367">
                <a:moveTo>
                  <a:pt x="0" y="0"/>
                </a:moveTo>
                <a:lnTo>
                  <a:pt x="716367" y="0"/>
                </a:lnTo>
                <a:lnTo>
                  <a:pt x="716367" y="750123"/>
                </a:lnTo>
                <a:lnTo>
                  <a:pt x="0" y="750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27386" y="1530715"/>
            <a:ext cx="11051686" cy="73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7"/>
              </a:lnSpc>
            </a:pPr>
            <a:r>
              <a:rPr lang="en-US" b="true" sz="4611" spc="-224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1: Inventory Turnover —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80775" y="1142219"/>
            <a:ext cx="4494714" cy="238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b="true" sz="6711" spc="-327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Stock Movement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0288" y="3075737"/>
            <a:ext cx="3717150" cy="360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Slow &lt; 1 | Moderate 1–1.5 | Fast &gt; 1.5</a:t>
            </a:r>
          </a:p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EFEFE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Highlight: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Highest: Saree ≈ 1.78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Lowest: Night Wear ≈ 0.61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Slow-moving categories: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Night Wear • Men's Wear • Accessories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684653" y="3750497"/>
            <a:ext cx="3298050" cy="197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Small clarification: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Quantity-based stock movement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measure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449274" y="9144000"/>
            <a:ext cx="10658123" cy="52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7"/>
              </a:lnSpc>
            </a:pPr>
            <a:r>
              <a:rPr lang="en-US" sz="1977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Turnover shown as quantity-based stock movement: Quantity Sold ÷ Average Inventory Quantity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7488" y="-19421475"/>
            <a:ext cx="23802975" cy="23802975"/>
          </a:xfrm>
          <a:custGeom>
            <a:avLst/>
            <a:gdLst/>
            <a:ahLst/>
            <a:cxnLst/>
            <a:rect r="r" b="b" t="t" l="l"/>
            <a:pathLst>
              <a:path h="23802975" w="23802975">
                <a:moveTo>
                  <a:pt x="0" y="0"/>
                </a:moveTo>
                <a:lnTo>
                  <a:pt x="23802976" y="0"/>
                </a:lnTo>
                <a:lnTo>
                  <a:pt x="23802976" y="23802975"/>
                </a:lnTo>
                <a:lnTo>
                  <a:pt x="0" y="23802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510" y="6604149"/>
            <a:ext cx="8115300" cy="2206276"/>
            <a:chOff x="0" y="0"/>
            <a:chExt cx="10820400" cy="29417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20400" cy="2941701"/>
            </a:xfrm>
            <a:custGeom>
              <a:avLst/>
              <a:gdLst/>
              <a:ahLst/>
              <a:cxnLst/>
              <a:rect r="r" b="b" t="t" l="l"/>
              <a:pathLst>
                <a:path h="2941701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2941701"/>
                  </a:lnTo>
                  <a:lnTo>
                    <a:pt x="0" y="2941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226" r="0" b="-922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606611" y="3226146"/>
            <a:ext cx="7575423" cy="5803582"/>
            <a:chOff x="0" y="0"/>
            <a:chExt cx="10100564" cy="7738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0564" cy="7738110"/>
            </a:xfrm>
            <a:custGeom>
              <a:avLst/>
              <a:gdLst/>
              <a:ahLst/>
              <a:cxnLst/>
              <a:rect r="r" b="b" t="t" l="l"/>
              <a:pathLst>
                <a:path h="7738110" w="10100564">
                  <a:moveTo>
                    <a:pt x="0" y="0"/>
                  </a:moveTo>
                  <a:lnTo>
                    <a:pt x="10100564" y="0"/>
                  </a:lnTo>
                  <a:lnTo>
                    <a:pt x="10100564" y="7738110"/>
                  </a:lnTo>
                  <a:lnTo>
                    <a:pt x="0" y="7738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90" r="0" b="-129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17290" y="3702339"/>
            <a:ext cx="7814520" cy="2901810"/>
            <a:chOff x="0" y="0"/>
            <a:chExt cx="10419359" cy="3869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9334" cy="3869055"/>
            </a:xfrm>
            <a:custGeom>
              <a:avLst/>
              <a:gdLst/>
              <a:ahLst/>
              <a:cxnLst/>
              <a:rect r="r" b="b" t="t" l="l"/>
              <a:pathLst>
                <a:path h="3869055" w="10419334">
                  <a:moveTo>
                    <a:pt x="0" y="0"/>
                  </a:moveTo>
                  <a:lnTo>
                    <a:pt x="10419334" y="0"/>
                  </a:lnTo>
                  <a:lnTo>
                    <a:pt x="10419334" y="3869055"/>
                  </a:lnTo>
                  <a:lnTo>
                    <a:pt x="0" y="3869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6501" r="0" b="-3650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589452" y="9505921"/>
            <a:ext cx="592582" cy="673389"/>
          </a:xfrm>
          <a:custGeom>
            <a:avLst/>
            <a:gdLst/>
            <a:ahLst/>
            <a:cxnLst/>
            <a:rect r="r" b="b" t="t" l="l"/>
            <a:pathLst>
              <a:path h="673389" w="592582">
                <a:moveTo>
                  <a:pt x="0" y="0"/>
                </a:moveTo>
                <a:lnTo>
                  <a:pt x="592582" y="0"/>
                </a:lnTo>
                <a:lnTo>
                  <a:pt x="592582" y="673389"/>
                </a:lnTo>
                <a:lnTo>
                  <a:pt x="0" y="6733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7936" y="3662660"/>
            <a:ext cx="7533227" cy="315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sz="2370" b="true">
                <a:solidFill>
                  <a:srgbClr val="20431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Finding:</a:t>
            </a:r>
          </a:p>
          <a:p>
            <a:pPr algn="l">
              <a:lnSpc>
                <a:spcPts val="3318"/>
              </a:lnSpc>
            </a:pPr>
            <a:r>
              <a:rPr lang="en-US" sz="2370">
                <a:solidFill>
                  <a:srgbClr val="204312"/>
                </a:solidFill>
                <a:latin typeface="Arial MT Pro"/>
                <a:ea typeface="Arial MT Pro"/>
                <a:cs typeface="Arial MT Pro"/>
                <a:sym typeface="Arial MT Pro"/>
              </a:rPr>
              <a:t>Demand is highly concentrated in Class-A products, while closing stock varies considerably across them. Dupatta has the highest demand but also carries the highest closing stock, indicating the need for demand-based replenishment rather than uniform stocking.</a:t>
            </a:r>
          </a:p>
          <a:p>
            <a:pPr algn="l">
              <a:lnSpc>
                <a:spcPts val="331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45414" y="1042616"/>
            <a:ext cx="11778272" cy="73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7"/>
              </a:lnSpc>
            </a:pPr>
            <a:r>
              <a:rPr lang="en-US" b="true" sz="4611" spc="-224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2: DEMAND VS CLOSING STOCK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46206" y="1911058"/>
            <a:ext cx="9548098" cy="131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8"/>
              </a:lnSpc>
            </a:pPr>
            <a:r>
              <a:rPr lang="en-US" sz="2976" b="true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Focus: Class-A products require closer stock monitoring and replenishment planning.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6611" y="9277350"/>
            <a:ext cx="7575385" cy="52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7"/>
              </a:lnSpc>
            </a:pPr>
            <a:r>
              <a:rPr lang="en-US" sz="1977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Demand vs Closing Inventory by Category/Product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1196" y="9035708"/>
            <a:ext cx="7653338" cy="71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5"/>
              </a:lnSpc>
              <a:spcBef>
                <a:spcPct val="0"/>
              </a:spcBef>
            </a:pPr>
            <a:r>
              <a:rPr lang="en-US" b="true" sz="1977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24 pr</a:t>
            </a:r>
            <a:r>
              <a:rPr lang="en-US" b="true" sz="1977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oducts (42.86%) Near Stockout, 28 products (50%) Normal, </a:t>
            </a:r>
          </a:p>
          <a:p>
            <a:pPr algn="ctr">
              <a:lnSpc>
                <a:spcPts val="2767"/>
              </a:lnSpc>
              <a:spcBef>
                <a:spcPct val="0"/>
              </a:spcBef>
            </a:pPr>
            <a:r>
              <a:rPr lang="en-US" b="true" sz="1977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 products (7.14%) Overstock.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182" y="-3153318"/>
            <a:ext cx="16593626" cy="16593626"/>
          </a:xfrm>
          <a:custGeom>
            <a:avLst/>
            <a:gdLst/>
            <a:ahLst/>
            <a:cxnLst/>
            <a:rect r="r" b="b" t="t" l="l"/>
            <a:pathLst>
              <a:path h="16593626" w="16593626">
                <a:moveTo>
                  <a:pt x="0" y="0"/>
                </a:moveTo>
                <a:lnTo>
                  <a:pt x="16593626" y="0"/>
                </a:lnTo>
                <a:lnTo>
                  <a:pt x="16593626" y="16593626"/>
                </a:lnTo>
                <a:lnTo>
                  <a:pt x="0" y="1659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21594" y="3822621"/>
            <a:ext cx="8790908" cy="5435727"/>
            <a:chOff x="0" y="0"/>
            <a:chExt cx="11721211" cy="72476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21211" cy="7247636"/>
            </a:xfrm>
            <a:custGeom>
              <a:avLst/>
              <a:gdLst/>
              <a:ahLst/>
              <a:cxnLst/>
              <a:rect r="r" b="b" t="t" l="l"/>
              <a:pathLst>
                <a:path h="7247636" w="11721211">
                  <a:moveTo>
                    <a:pt x="0" y="0"/>
                  </a:moveTo>
                  <a:lnTo>
                    <a:pt x="11721211" y="0"/>
                  </a:lnTo>
                  <a:lnTo>
                    <a:pt x="11721211" y="7247636"/>
                  </a:lnTo>
                  <a:lnTo>
                    <a:pt x="0" y="7247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1345628" y="3542793"/>
            <a:ext cx="5412600" cy="3808605"/>
            <a:chOff x="0" y="0"/>
            <a:chExt cx="7216800" cy="50781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6780" cy="5078203"/>
            </a:xfrm>
            <a:custGeom>
              <a:avLst/>
              <a:gdLst/>
              <a:ahLst/>
              <a:cxnLst/>
              <a:rect r="r" b="b" t="t" l="l"/>
              <a:pathLst>
                <a:path h="5078203" w="7216780">
                  <a:moveTo>
                    <a:pt x="0" y="0"/>
                  </a:moveTo>
                  <a:lnTo>
                    <a:pt x="7216780" y="0"/>
                  </a:lnTo>
                  <a:lnTo>
                    <a:pt x="7216780" y="5078203"/>
                  </a:lnTo>
                  <a:lnTo>
                    <a:pt x="0" y="5078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767" t="0" r="-476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109374" y="8987814"/>
            <a:ext cx="662869" cy="736521"/>
          </a:xfrm>
          <a:custGeom>
            <a:avLst/>
            <a:gdLst/>
            <a:ahLst/>
            <a:cxnLst/>
            <a:rect r="r" b="b" t="t" l="l"/>
            <a:pathLst>
              <a:path h="736521" w="662869">
                <a:moveTo>
                  <a:pt x="0" y="0"/>
                </a:moveTo>
                <a:lnTo>
                  <a:pt x="662869" y="0"/>
                </a:lnTo>
                <a:lnTo>
                  <a:pt x="662869" y="736521"/>
                </a:lnTo>
                <a:lnTo>
                  <a:pt x="0" y="736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941" y="983971"/>
            <a:ext cx="8183928" cy="105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3683" spc="-179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2: 7-Day Moving Average — Demand Forecast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9617" y="2225431"/>
            <a:ext cx="3879990" cy="5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b="true" sz="3200" spc="-156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MAE: ₹2,664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04005" y="2225431"/>
            <a:ext cx="3879990" cy="5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b="true" sz="3200" spc="-156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RMSE: ₹3,529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9617" y="2735532"/>
            <a:ext cx="3268028" cy="20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takeaway: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7-day MA smooths short-term fluctuations but has limited accuracy during demand spikes.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19617" y="4603392"/>
            <a:ext cx="3268028" cy="379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Integrated Finding:</a:t>
            </a:r>
          </a:p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Sales are concentrated in a few high-demand products, while inventory movement varies across categories. Therefore, inventory planning should combine ABC classification + stock movement + recent demand forecasting.</a:t>
            </a: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332465" y="2225431"/>
            <a:ext cx="3879990" cy="5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b="true" sz="3200" spc="-156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MAPE: 44.21%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1594" y="9310030"/>
            <a:ext cx="8790861" cy="39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7-Day Moving Average Forecast of Daily Sales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137" y="8551299"/>
            <a:ext cx="5688987" cy="79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4"/>
              </a:lnSpc>
              <a:spcBef>
                <a:spcPct val="0"/>
              </a:spcBef>
            </a:pPr>
            <a:r>
              <a:rPr lang="en-US" b="true" sz="221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 the end </a:t>
            </a:r>
            <a:r>
              <a:rPr lang="en-US" b="true" sz="221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of April, the moving </a:t>
            </a:r>
          </a:p>
          <a:p>
            <a:pPr algn="ctr">
              <a:lnSpc>
                <a:spcPts val="3095"/>
              </a:lnSpc>
              <a:spcBef>
                <a:spcPct val="0"/>
              </a:spcBef>
            </a:pPr>
            <a:r>
              <a:rPr lang="en-US" b="true" sz="221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average was approximately ₹5,669 per day.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6735" y="503539"/>
            <a:ext cx="4781979" cy="182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1"/>
              </a:lnSpc>
            </a:pPr>
            <a:r>
              <a:rPr lang="en-US" b="true" sz="6398" spc="-312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Interpretation of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23912" y="1428483"/>
            <a:ext cx="544811" cy="545506"/>
          </a:xfrm>
          <a:custGeom>
            <a:avLst/>
            <a:gdLst/>
            <a:ahLst/>
            <a:cxnLst/>
            <a:rect r="r" b="b" t="t" l="l"/>
            <a:pathLst>
              <a:path h="545506" w="544811">
                <a:moveTo>
                  <a:pt x="0" y="0"/>
                </a:moveTo>
                <a:lnTo>
                  <a:pt x="544811" y="0"/>
                </a:lnTo>
                <a:lnTo>
                  <a:pt x="544811" y="545507"/>
                </a:lnTo>
                <a:lnTo>
                  <a:pt x="0" y="545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t="0" r="-6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7168" y="-144666"/>
            <a:ext cx="9780832" cy="10431666"/>
          </a:xfrm>
          <a:custGeom>
            <a:avLst/>
            <a:gdLst/>
            <a:ahLst/>
            <a:cxnLst/>
            <a:rect r="r" b="b" t="t" l="l"/>
            <a:pathLst>
              <a:path h="10431666" w="9780832">
                <a:moveTo>
                  <a:pt x="0" y="0"/>
                </a:moveTo>
                <a:lnTo>
                  <a:pt x="9780832" y="0"/>
                </a:lnTo>
                <a:lnTo>
                  <a:pt x="9780832" y="10431666"/>
                </a:lnTo>
                <a:lnTo>
                  <a:pt x="0" y="10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" r="0" b="-3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30492" y="7194162"/>
            <a:ext cx="8693086" cy="2390604"/>
          </a:xfrm>
          <a:custGeom>
            <a:avLst/>
            <a:gdLst/>
            <a:ahLst/>
            <a:cxnLst/>
            <a:rect r="r" b="b" t="t" l="l"/>
            <a:pathLst>
              <a:path h="2390604" w="8693086">
                <a:moveTo>
                  <a:pt x="0" y="0"/>
                </a:moveTo>
                <a:lnTo>
                  <a:pt x="8693086" y="0"/>
                </a:lnTo>
                <a:lnTo>
                  <a:pt x="8693086" y="2390604"/>
                </a:lnTo>
                <a:lnTo>
                  <a:pt x="0" y="2390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9" t="0" r="-17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1607627" y="1657610"/>
            <a:ext cx="5035148" cy="6369606"/>
            <a:chOff x="0" y="0"/>
            <a:chExt cx="6713531" cy="8492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13582" cy="8492871"/>
            </a:xfrm>
            <a:custGeom>
              <a:avLst/>
              <a:gdLst/>
              <a:ahLst/>
              <a:cxnLst/>
              <a:rect r="r" b="b" t="t" l="l"/>
              <a:pathLst>
                <a:path h="8492871" w="6713582">
                  <a:moveTo>
                    <a:pt x="0" y="0"/>
                  </a:moveTo>
                  <a:lnTo>
                    <a:pt x="6713582" y="0"/>
                  </a:lnTo>
                  <a:lnTo>
                    <a:pt x="6713582" y="8492871"/>
                  </a:lnTo>
                  <a:lnTo>
                    <a:pt x="0" y="8492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8458" t="0" r="-4845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1028700"/>
            <a:ext cx="8115300" cy="4114800"/>
            <a:chOff x="0" y="0"/>
            <a:chExt cx="10820400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20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349" r="0" b="-1334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355320" y="9258300"/>
            <a:ext cx="536516" cy="570762"/>
          </a:xfrm>
          <a:custGeom>
            <a:avLst/>
            <a:gdLst/>
            <a:ahLst/>
            <a:cxnLst/>
            <a:rect r="r" b="b" t="t" l="l"/>
            <a:pathLst>
              <a:path h="570762" w="536516">
                <a:moveTo>
                  <a:pt x="0" y="0"/>
                </a:moveTo>
                <a:lnTo>
                  <a:pt x="536516" y="0"/>
                </a:lnTo>
                <a:lnTo>
                  <a:pt x="536516" y="570762"/>
                </a:lnTo>
                <a:lnTo>
                  <a:pt x="0" y="570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6735" y="3371907"/>
            <a:ext cx="4910928" cy="398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What the analysis tells us: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Revenue is highly concentrated: 3 Class-A products generate 67.56% of analysed revenue.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Saree (1.78) has the highest turnover, while Night Wear (0.61) has the lowest.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485 units remain in closing stock, with approximately ₹1,02,600 capital locked.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Slow-moving and high-value stock therefore needs tighter monitoring. 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84912" y="2024634"/>
            <a:ext cx="7674388" cy="318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What the analysis tells us: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Demand and available closing stock are not always aligned.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24 of 56 products (42.86%) are Near Stockout, while 4 (7.14%) are Overstock.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The 7-day moving average smooths daily fluctuations and provides a more stable short-term demand signal.</a:t>
            </a:r>
          </a:p>
          <a:p>
            <a:pPr algn="l" marL="539840" indent="-134960" lvl="3">
              <a:lnSpc>
                <a:spcPts val="2767"/>
              </a:lnSpc>
              <a:buFont typeface="Arial"/>
              <a:buChar char="￭"/>
            </a:pPr>
            <a:r>
              <a:rPr lang="en-US" sz="19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This creates two opposite risks: stockouts in high-demand products and excess stock in slower-moving products. </a:t>
            </a:r>
          </a:p>
          <a:p>
            <a:pPr algn="l" marL="539840" indent="-134960" lvl="3">
              <a:lnSpc>
                <a:spcPts val="276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86735" y="2334368"/>
            <a:ext cx="4910928" cy="9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 b="true">
                <a:solidFill>
                  <a:srgbClr val="EFEFE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1 — Reducing Locked Working Capital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4912" y="1173013"/>
            <a:ext cx="7161266" cy="51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 b="true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PROBLEM 2 — Minimising Total Inventory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5108" y="7525388"/>
            <a:ext cx="7412060" cy="173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9" b="true">
                <a:solidFill>
                  <a:srgbClr val="BDEA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Interpretation:</a:t>
            </a:r>
          </a:p>
          <a:p>
            <a:pPr algn="l">
              <a:lnSpc>
                <a:spcPts val="2657"/>
              </a:lnSpc>
            </a:pPr>
            <a:r>
              <a:rPr lang="en-US" sz="1899">
                <a:solidFill>
                  <a:srgbClr val="BDEAFF"/>
                </a:solidFill>
                <a:latin typeface="Canva Sans"/>
                <a:ea typeface="Canva Sans"/>
                <a:cs typeface="Canva Sans"/>
                <a:sym typeface="Canva Sans"/>
              </a:rPr>
              <a:t>Inventory priority should be based on both revenue contribution and stock movement, rather than treating all products equally.</a:t>
            </a:r>
          </a:p>
          <a:p>
            <a:pPr algn="l">
              <a:lnSpc>
                <a:spcPts val="265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584912" y="5627075"/>
            <a:ext cx="7674388" cy="136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Interpretation:</a:t>
            </a:r>
          </a:p>
          <a:p>
            <a:pPr algn="l">
              <a:lnSpc>
                <a:spcPts val="2657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Replenishment should be demand-based, using recent sales, current stock status and product priority.</a:t>
            </a:r>
          </a:p>
          <a:p>
            <a:pPr algn="l">
              <a:lnSpc>
                <a:spcPts val="265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584912" y="7598093"/>
            <a:ext cx="7692228" cy="173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Insight</a:t>
            </a:r>
          </a:p>
          <a:p>
            <a:pPr algn="l">
              <a:lnSpc>
                <a:spcPts val="2657"/>
              </a:lnSpc>
            </a:pPr>
            <a:r>
              <a:rPr lang="en-US" sz="1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Move from intuition-based purchasing to a simple data-driven inventory system using ABC priority, turnover, current stock status and recent demand.</a:t>
            </a:r>
          </a:p>
          <a:p>
            <a:pPr algn="l">
              <a:lnSpc>
                <a:spcPts val="265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43314"/>
            <a:ext cx="18288000" cy="8722157"/>
          </a:xfrm>
          <a:custGeom>
            <a:avLst/>
            <a:gdLst/>
            <a:ahLst/>
            <a:cxnLst/>
            <a:rect r="r" b="b" t="t" l="l"/>
            <a:pathLst>
              <a:path h="8722157" w="18288000">
                <a:moveTo>
                  <a:pt x="0" y="0"/>
                </a:moveTo>
                <a:lnTo>
                  <a:pt x="18288000" y="0"/>
                </a:lnTo>
                <a:lnTo>
                  <a:pt x="18288000" y="8722157"/>
                </a:lnTo>
                <a:lnTo>
                  <a:pt x="0" y="872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" r="0" b="-15"/>
            </a:stretch>
          </a:blipFill>
        </p:spPr>
      </p:sp>
      <p:sp>
        <p:nvSpPr>
          <p:cNvPr name="AutoShape 3" id="3"/>
          <p:cNvSpPr/>
          <p:nvPr/>
        </p:nvSpPr>
        <p:spPr>
          <a:xfrm rot="-5356740">
            <a:off x="7780420" y="5748099"/>
            <a:ext cx="3026674" cy="0"/>
          </a:xfrm>
          <a:prstGeom prst="line">
            <a:avLst/>
          </a:prstGeom>
          <a:ln cap="rnd" w="19050">
            <a:solidFill>
              <a:srgbClr val="DBF2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5400000">
            <a:off x="2445334" y="4356316"/>
            <a:ext cx="4899650" cy="4904327"/>
            <a:chOff x="0" y="0"/>
            <a:chExt cx="6532867" cy="65391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32880" cy="6539103"/>
            </a:xfrm>
            <a:custGeom>
              <a:avLst/>
              <a:gdLst/>
              <a:ahLst/>
              <a:cxnLst/>
              <a:rect r="r" b="b" t="t" l="l"/>
              <a:pathLst>
                <a:path h="6539103" w="6532880">
                  <a:moveTo>
                    <a:pt x="0" y="0"/>
                  </a:moveTo>
                  <a:lnTo>
                    <a:pt x="6532880" y="0"/>
                  </a:lnTo>
                  <a:lnTo>
                    <a:pt x="6532880" y="6539103"/>
                  </a:lnTo>
                  <a:lnTo>
                    <a:pt x="0" y="6539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904" t="0" r="-279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35144" y="4359516"/>
            <a:ext cx="5543721" cy="4484865"/>
            <a:chOff x="0" y="0"/>
            <a:chExt cx="7391629" cy="59798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91654" cy="5979795"/>
            </a:xfrm>
            <a:custGeom>
              <a:avLst/>
              <a:gdLst/>
              <a:ahLst/>
              <a:cxnLst/>
              <a:rect r="r" b="b" t="t" l="l"/>
              <a:pathLst>
                <a:path h="5979795" w="7391654">
                  <a:moveTo>
                    <a:pt x="0" y="0"/>
                  </a:moveTo>
                  <a:lnTo>
                    <a:pt x="7391654" y="0"/>
                  </a:lnTo>
                  <a:lnTo>
                    <a:pt x="7391654" y="5979795"/>
                  </a:lnTo>
                  <a:lnTo>
                    <a:pt x="0" y="5979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964" t="0" r="-1296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78866" y="9258300"/>
            <a:ext cx="600042" cy="634965"/>
          </a:xfrm>
          <a:custGeom>
            <a:avLst/>
            <a:gdLst/>
            <a:ahLst/>
            <a:cxnLst/>
            <a:rect r="r" b="b" t="t" l="l"/>
            <a:pathLst>
              <a:path h="634965" w="600042">
                <a:moveTo>
                  <a:pt x="0" y="0"/>
                </a:moveTo>
                <a:lnTo>
                  <a:pt x="600042" y="0"/>
                </a:lnTo>
                <a:lnTo>
                  <a:pt x="600042" y="634965"/>
                </a:lnTo>
                <a:lnTo>
                  <a:pt x="0" y="634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93896" y="1000125"/>
            <a:ext cx="11740172" cy="109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b="true" sz="7011" spc="-34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RECOMMENDATIONS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21064" y="4479446"/>
            <a:ext cx="4926254" cy="477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Class-A products: highest priority; review weekly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Class-B products: periodic review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Class-C products: purchase cautiously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Reduce purchases of slow-moving / Overstock products.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Use discounts or bundle offers to clear prolonged slow stock.</a:t>
            </a:r>
          </a:p>
          <a:p>
            <a:pPr algn="l" marL="645227" indent="-161307" lvl="3">
              <a:lnSpc>
                <a:spcPts val="330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993564" y="4479446"/>
            <a:ext cx="5084636" cy="4364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Review Near Stockout products weekly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Use recent sales + 7-day Moving Average for replenishment decisions.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Maintain a defined minimum stock level for high-demand products.</a:t>
            </a:r>
          </a:p>
          <a:p>
            <a:pPr algn="l" marL="645227" indent="-161307" lvl="3">
              <a:lnSpc>
                <a:spcPts val="3308"/>
              </a:lnSpc>
              <a:buFont typeface="Arial"/>
              <a:buChar char="￭"/>
            </a:pPr>
            <a:r>
              <a:rPr lang="en-US" sz="2363">
                <a:solidFill>
                  <a:srgbClr val="000000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Reorder when stock approaches the required level.</a:t>
            </a:r>
          </a:p>
          <a:p>
            <a:pPr algn="l" marL="645227" indent="-161307" lvl="3">
              <a:lnSpc>
                <a:spcPts val="330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21064" y="3606765"/>
            <a:ext cx="6722936" cy="75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721" b="true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1. Purchasing &amp; Inventory Priorities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564" y="3606765"/>
            <a:ext cx="6265736" cy="75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721" b="true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2. Demand-Based Replenishment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23736"/>
            <a:ext cx="18626461" cy="8883580"/>
          </a:xfrm>
          <a:custGeom>
            <a:avLst/>
            <a:gdLst/>
            <a:ahLst/>
            <a:cxnLst/>
            <a:rect r="r" b="b" t="t" l="l"/>
            <a:pathLst>
              <a:path h="8883580" w="18626461">
                <a:moveTo>
                  <a:pt x="0" y="0"/>
                </a:moveTo>
                <a:lnTo>
                  <a:pt x="18626461" y="0"/>
                </a:lnTo>
                <a:lnTo>
                  <a:pt x="18626461" y="8883580"/>
                </a:lnTo>
                <a:lnTo>
                  <a:pt x="0" y="8883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" r="0" b="-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3276" y="2759565"/>
            <a:ext cx="7879620" cy="6300740"/>
          </a:xfrm>
          <a:custGeom>
            <a:avLst/>
            <a:gdLst/>
            <a:ahLst/>
            <a:cxnLst/>
            <a:rect r="r" b="b" t="t" l="l"/>
            <a:pathLst>
              <a:path h="6300740" w="7879620">
                <a:moveTo>
                  <a:pt x="0" y="0"/>
                </a:moveTo>
                <a:lnTo>
                  <a:pt x="7879620" y="0"/>
                </a:lnTo>
                <a:lnTo>
                  <a:pt x="7879620" y="6300741"/>
                </a:lnTo>
                <a:lnTo>
                  <a:pt x="0" y="6300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2727" b="-3061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8412" y="3000673"/>
            <a:ext cx="6433539" cy="6645742"/>
          </a:xfrm>
          <a:custGeom>
            <a:avLst/>
            <a:gdLst/>
            <a:ahLst/>
            <a:cxnLst/>
            <a:rect r="r" b="b" t="t" l="l"/>
            <a:pathLst>
              <a:path h="6645742" w="6433539">
                <a:moveTo>
                  <a:pt x="0" y="0"/>
                </a:moveTo>
                <a:lnTo>
                  <a:pt x="6433539" y="0"/>
                </a:lnTo>
                <a:lnTo>
                  <a:pt x="6433539" y="6645742"/>
                </a:lnTo>
                <a:lnTo>
                  <a:pt x="0" y="6645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16" t="0" r="-5833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9060306"/>
            <a:ext cx="766629" cy="743630"/>
          </a:xfrm>
          <a:custGeom>
            <a:avLst/>
            <a:gdLst/>
            <a:ahLst/>
            <a:cxnLst/>
            <a:rect r="r" b="b" t="t" l="l"/>
            <a:pathLst>
              <a:path h="743630" w="766629">
                <a:moveTo>
                  <a:pt x="0" y="0"/>
                </a:moveTo>
                <a:lnTo>
                  <a:pt x="766629" y="0"/>
                </a:lnTo>
                <a:lnTo>
                  <a:pt x="766629" y="743630"/>
                </a:lnTo>
                <a:lnTo>
                  <a:pt x="0" y="7436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4122" y="306945"/>
            <a:ext cx="16017137" cy="101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b="true" sz="6611" spc="-32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Reorder Point (ROP) &amp; Conclusions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6838" y="2664315"/>
            <a:ext cx="4926254" cy="29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8"/>
              </a:lnSpc>
            </a:pPr>
          </a:p>
          <a:p>
            <a:pPr algn="just">
              <a:lnSpc>
                <a:spcPts val="3308"/>
              </a:lnSpc>
            </a:pPr>
            <a:r>
              <a:rPr lang="en-US" sz="2363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Reorder Point</a:t>
            </a:r>
          </a:p>
          <a:p>
            <a:pPr algn="just">
              <a:lnSpc>
                <a:spcPts val="3308"/>
              </a:lnSpc>
            </a:pPr>
            <a:r>
              <a:rPr lang="en-US" sz="2363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ROP = Average Daily Demand × Lead Time + Safety Stock</a:t>
            </a:r>
          </a:p>
          <a:p>
            <a:pPr algn="just">
              <a:lnSpc>
                <a:spcPts val="3308"/>
              </a:lnSpc>
            </a:pPr>
            <a:r>
              <a:rPr lang="en-US" sz="2363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Safety Stock</a:t>
            </a:r>
          </a:p>
          <a:p>
            <a:pPr algn="just">
              <a:lnSpc>
                <a:spcPts val="3308"/>
              </a:lnSpc>
            </a:pPr>
            <a:r>
              <a:rPr lang="en-US" sz="2363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SS = Z × σd × √L</a:t>
            </a:r>
          </a:p>
          <a:p>
            <a:pPr algn="just">
              <a:lnSpc>
                <a:spcPts val="330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21064" y="1931244"/>
            <a:ext cx="6722936" cy="106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020" b="true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ROP &amp; Safety Stock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6838" y="5199076"/>
            <a:ext cx="7015852" cy="4059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7"/>
              </a:lnSpc>
            </a:pPr>
            <a:r>
              <a:rPr lang="en-US" sz="2561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Where:</a:t>
            </a:r>
          </a:p>
          <a:p>
            <a:pPr algn="just">
              <a:lnSpc>
                <a:spcPts val="3587"/>
              </a:lnSpc>
            </a:pPr>
            <a:r>
              <a:rPr lang="en-US" sz="2561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Z = service-level factor</a:t>
            </a:r>
          </a:p>
          <a:p>
            <a:pPr algn="just">
              <a:lnSpc>
                <a:spcPts val="3587"/>
              </a:lnSpc>
            </a:pPr>
            <a:r>
              <a:rPr lang="en-US" sz="2561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σd = standard deviation of daily demand</a:t>
            </a:r>
          </a:p>
          <a:p>
            <a:pPr algn="just">
              <a:lnSpc>
                <a:spcPts val="3587"/>
              </a:lnSpc>
            </a:pPr>
            <a:r>
              <a:rPr lang="en-US" sz="2561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L = supplier lead time</a:t>
            </a:r>
          </a:p>
          <a:p>
            <a:pPr algn="just">
              <a:lnSpc>
                <a:spcPts val="3587"/>
              </a:lnSpc>
            </a:pPr>
            <a:r>
              <a:rPr lang="en-US" sz="2561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Important: Actual supplier lead time was not available in the study data, so the ROP should be calculated after obtaining the actual lead time from the supplier/business.</a:t>
            </a:r>
          </a:p>
          <a:p>
            <a:pPr algn="just">
              <a:lnSpc>
                <a:spcPts val="358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28412" y="2905423"/>
            <a:ext cx="5750413" cy="674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5"/>
              </a:lnSpc>
              <a:spcBef>
                <a:spcPct val="0"/>
              </a:spcBef>
            </a:pPr>
          </a:p>
          <a:p>
            <a:pPr algn="just" marL="510172" indent="-255086" lvl="1">
              <a:lnSpc>
                <a:spcPts val="3305"/>
              </a:lnSpc>
              <a:spcBef>
                <a:spcPct val="0"/>
              </a:spcBef>
              <a:buFont typeface="Arial"/>
              <a:buChar char="•"/>
            </a:pPr>
            <a:r>
              <a:rPr lang="en-US" sz="236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Analysis shifts Matching Point from intuition-based to data-driven inventory decisions</a:t>
            </a:r>
          </a:p>
          <a:p>
            <a:pPr algn="just" marL="510172" indent="-255086" lvl="1">
              <a:lnSpc>
                <a:spcPts val="3305"/>
              </a:lnSpc>
              <a:spcBef>
                <a:spcPct val="0"/>
              </a:spcBef>
              <a:buFont typeface="Arial"/>
              <a:buChar char="•"/>
            </a:pPr>
            <a:r>
              <a:rPr lang="en-US" sz="236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Class-A products (Suit Piece, Saree, Dupatta) identified as highest priority — 67.56% of revenue</a:t>
            </a:r>
          </a:p>
          <a:p>
            <a:pPr algn="just" marL="510172" indent="-255086" lvl="1">
              <a:lnSpc>
                <a:spcPts val="3305"/>
              </a:lnSpc>
              <a:spcBef>
                <a:spcPct val="0"/>
              </a:spcBef>
              <a:buFont typeface="Arial"/>
              <a:buChar char="•"/>
            </a:pPr>
            <a:r>
              <a:rPr lang="en-US" sz="236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Slow-moving categories (Night Wear, Men's Wear, Accessories) identified for capital release</a:t>
            </a:r>
          </a:p>
          <a:p>
            <a:pPr algn="just" marL="510172" indent="-255086" lvl="1">
              <a:lnSpc>
                <a:spcPts val="3305"/>
              </a:lnSpc>
              <a:spcBef>
                <a:spcPct val="0"/>
              </a:spcBef>
              <a:buFont typeface="Arial"/>
              <a:buChar char="•"/>
            </a:pPr>
            <a:r>
              <a:rPr lang="en-US" sz="236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Expected impact: faster clearance of ~₹1,02,600 locked capital, reduced stockouts in 24 near-stockout products, better demand-supply alignment via 7-day MA + ROP</a:t>
            </a:r>
          </a:p>
          <a:p>
            <a:pPr algn="just">
              <a:lnSpc>
                <a:spcPts val="330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066729" y="1995026"/>
            <a:ext cx="6722936" cy="7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020" b="true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Conclusions: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9800" y="3896068"/>
            <a:ext cx="7429500" cy="7429500"/>
          </a:xfrm>
          <a:custGeom>
            <a:avLst/>
            <a:gdLst/>
            <a:ahLst/>
            <a:cxnLst/>
            <a:rect r="r" b="b" t="t" l="l"/>
            <a:pathLst>
              <a:path h="7429500" w="7429500">
                <a:moveTo>
                  <a:pt x="0" y="0"/>
                </a:moveTo>
                <a:lnTo>
                  <a:pt x="7429500" y="0"/>
                </a:lnTo>
                <a:lnTo>
                  <a:pt x="7429500" y="7429500"/>
                </a:lnTo>
                <a:lnTo>
                  <a:pt x="0" y="742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09873"/>
            <a:ext cx="8308848" cy="6231636"/>
          </a:xfrm>
          <a:custGeom>
            <a:avLst/>
            <a:gdLst/>
            <a:ahLst/>
            <a:cxnLst/>
            <a:rect r="r" b="b" t="t" l="l"/>
            <a:pathLst>
              <a:path h="6231636" w="8308848">
                <a:moveTo>
                  <a:pt x="0" y="0"/>
                </a:moveTo>
                <a:lnTo>
                  <a:pt x="8308848" y="0"/>
                </a:lnTo>
                <a:lnTo>
                  <a:pt x="8308848" y="6231636"/>
                </a:lnTo>
                <a:lnTo>
                  <a:pt x="0" y="6231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6840">
            <a:off x="11050721" y="5130594"/>
            <a:ext cx="4987633" cy="4114800"/>
          </a:xfrm>
          <a:custGeom>
            <a:avLst/>
            <a:gdLst/>
            <a:ahLst/>
            <a:cxnLst/>
            <a:rect r="r" b="b" t="t" l="l"/>
            <a:pathLst>
              <a:path h="4114800" w="4987633">
                <a:moveTo>
                  <a:pt x="0" y="0"/>
                </a:moveTo>
                <a:lnTo>
                  <a:pt x="4987632" y="0"/>
                </a:lnTo>
                <a:lnTo>
                  <a:pt x="49876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1" r="0" b="-8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9258300"/>
            <a:ext cx="755269" cy="755269"/>
          </a:xfrm>
          <a:custGeom>
            <a:avLst/>
            <a:gdLst/>
            <a:ahLst/>
            <a:cxnLst/>
            <a:rect r="r" b="b" t="t" l="l"/>
            <a:pathLst>
              <a:path h="755269" w="755269">
                <a:moveTo>
                  <a:pt x="0" y="0"/>
                </a:moveTo>
                <a:lnTo>
                  <a:pt x="755269" y="0"/>
                </a:lnTo>
                <a:lnTo>
                  <a:pt x="755269" y="755269"/>
                </a:lnTo>
                <a:lnTo>
                  <a:pt x="0" y="755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29491" y="3810343"/>
            <a:ext cx="5707266" cy="337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WEEKLY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📌 Review A-class &amp; Near Stockout products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↓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MONTHLY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📌 Review slow-moving &amp; Overstock products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↓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EACH PURCHASE CYCLE</a:t>
            </a:r>
          </a:p>
          <a:p>
            <a:pPr algn="ctr">
              <a:lnSpc>
                <a:spcPts val="2830"/>
              </a:lnSpc>
            </a:pPr>
            <a:r>
              <a:rPr lang="en-US" sz="20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📌 Apply ABC + demand-based ROP</a:t>
            </a:r>
          </a:p>
          <a:p>
            <a:pPr algn="ctr">
              <a:lnSpc>
                <a:spcPts val="283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29491" y="3050457"/>
            <a:ext cx="5707266" cy="75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721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Implementation Roadmap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6757" y="1010660"/>
            <a:ext cx="9424968" cy="109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Shift from intuition-based purchasing to simple,</a:t>
            </a:r>
          </a:p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data-driven inventory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DAHVVusENT4</dc:identifier>
  <dcterms:modified xsi:type="dcterms:W3CDTF">2011-08-01T06:04:30Z</dcterms:modified>
  <cp:revision>1</cp:revision>
  <dc:title>sumaiya.pptx.pptx</dc:title>
</cp:coreProperties>
</file>